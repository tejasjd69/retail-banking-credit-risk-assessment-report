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lice" panose="020B0604020202020204" charset="0"/>
      <p:regular r:id="rId14"/>
    </p:embeddedFont>
    <p:embeddedFont>
      <p:font typeface="Lora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6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74586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Banking Dashboard Analytics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Leveraging Power BI to minimize lending risk through data-driven insights and comprehensive client profiling.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0DC82-3185-B5C5-05C6-822AF1AC6F06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502" y="825817"/>
            <a:ext cx="1331238" cy="412433"/>
          </a:xfrm>
          <a:prstGeom prst="roundRect">
            <a:avLst>
              <a:gd name="adj" fmla="val 6439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7256" y="892135"/>
            <a:ext cx="106572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4502" y="1324570"/>
            <a:ext cx="5532358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</a:t>
            </a:r>
            <a:endParaRPr lang="en-US" sz="4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02" y="2582585"/>
            <a:ext cx="8313896" cy="45783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5847" y="2725102"/>
            <a:ext cx="4227552" cy="110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Analytics in Banking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9635847" y="4047292"/>
            <a:ext cx="4227552" cy="174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Banks need to understand risk analytics to minimize money loss when lending to customers. The challenge is evaluating applicant profiles to determine loan repayment likelihood before approval.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35847" y="5990511"/>
            <a:ext cx="4227552" cy="1049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Data-driven decision making is essential for financial services to protect assets while serving clients effectively.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661987-3FBA-2C95-109B-4E24F4526974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15408"/>
            <a:ext cx="1212294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383393"/>
            <a:ext cx="9401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832378"/>
            <a:ext cx="74133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Power BI Dashboard Solution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88131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0604" y="4108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59855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Latest Power BI tools create interactive dashboards for comprehensive analysis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88131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43776" y="4108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Profile Assessment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3776" y="459855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Evaluate applicant profiles to determine loan approval decisions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88131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66948" y="41081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Mitigation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6948" y="459855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Approve loans for likely repayers, reject high-risk applications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770AF6-4760-9AF4-6D19-75F501E996AE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32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Dataset Structure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81751"/>
            <a:ext cx="8284131" cy="4115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6338" y="3741804"/>
            <a:ext cx="1874689" cy="23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Period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9093" y="3638175"/>
            <a:ext cx="416597" cy="4165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6338" y="5291677"/>
            <a:ext cx="1874689" cy="23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Investment Advisor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9093" y="5188048"/>
            <a:ext cx="416597" cy="4165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0636" y="5291677"/>
            <a:ext cx="1874689" cy="23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Client-Banking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02686" y="5288032"/>
            <a:ext cx="416598" cy="416597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3467" y="3738289"/>
            <a:ext cx="416597" cy="41659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91417" y="3737768"/>
            <a:ext cx="1874689" cy="23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Banking Relationship</a:t>
            </a:r>
            <a:endParaRPr lang="en-US" sz="1450" dirty="0"/>
          </a:p>
        </p:txBody>
      </p:sp>
      <p:sp>
        <p:nvSpPr>
          <p:cNvPr id="12" name="Text 5"/>
          <p:cNvSpPr/>
          <p:nvPr/>
        </p:nvSpPr>
        <p:spPr>
          <a:xfrm>
            <a:off x="9638943" y="2138958"/>
            <a:ext cx="4205168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Comprehensive Banking Data</a:t>
            </a:r>
            <a:endParaRPr lang="en-US" sz="3550" dirty="0"/>
          </a:p>
        </p:txBody>
      </p:sp>
      <p:sp>
        <p:nvSpPr>
          <p:cNvPr id="13" name="Text 6"/>
          <p:cNvSpPr/>
          <p:nvPr/>
        </p:nvSpPr>
        <p:spPr>
          <a:xfrm>
            <a:off x="9638943" y="349972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dataset contains bank details and client information across multiple interlinked tables connected through primary and foreign keys.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9638943" y="5155406"/>
            <a:ext cx="420516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Banking Relationship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Client-Banking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Investment Advisor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Period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628585-9411-B1F9-0F24-FA948D5F20EE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6613"/>
            <a:ext cx="204216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1552218"/>
            <a:ext cx="17547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088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Cleaning Process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057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12807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93790" y="3587115"/>
            <a:ext cx="3051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Engagement Timeframe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07753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Created column tracking client timeline in banks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8548" y="30577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412807"/>
            <a:ext cx="6408063" cy="30480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28548" y="35871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Engagement Days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8548" y="407753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Calculated days from joining date to present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48372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19231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3790" y="5366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Income Bands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85704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Categorized estimated income: &lt;$100K as Low, &lt;$300K as Mid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428548" y="48372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192316"/>
            <a:ext cx="6408063" cy="30480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28548" y="5366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Processing Fees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28548" y="585704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Calculated fees based on fee structure (0.05 for high)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A800CF-8BE0-B819-CFCC-AE40A68B0B39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8724"/>
            <a:ext cx="64171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Calculated Functions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267664"/>
            <a:ext cx="4531876" cy="4743093"/>
          </a:xfrm>
          <a:prstGeom prst="roundRect">
            <a:avLst>
              <a:gd name="adj" fmla="val 751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7250" y="2494478"/>
            <a:ext cx="40782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Power BI Functions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857250" y="3288268"/>
            <a:ext cx="40782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Essential calculations for banking analytics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559981" y="2522815"/>
            <a:ext cx="2610088" cy="2184440"/>
          </a:xfrm>
          <a:prstGeom prst="roundRect">
            <a:avLst>
              <a:gd name="adj" fmla="val 155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817275" y="2780109"/>
            <a:ext cx="20955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17275" y="3361253"/>
            <a:ext cx="20955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Adds all numbers in a column, returns decimal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396883" y="2522815"/>
            <a:ext cx="2610207" cy="2184440"/>
          </a:xfrm>
          <a:prstGeom prst="roundRect">
            <a:avLst>
              <a:gd name="adj" fmla="val 155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54177" y="2780109"/>
            <a:ext cx="20956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DISTINCTCOUNT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54177" y="3715583"/>
            <a:ext cx="20956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Counts unique values in a column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1233904" y="2522815"/>
            <a:ext cx="2610207" cy="2184440"/>
          </a:xfrm>
          <a:prstGeom prst="roundRect">
            <a:avLst>
              <a:gd name="adj" fmla="val 155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91198" y="2780109"/>
            <a:ext cx="20956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91198" y="3361253"/>
            <a:ext cx="20956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Returns sum of expression for each table row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559981" y="4934069"/>
            <a:ext cx="4028599" cy="1821537"/>
          </a:xfrm>
          <a:prstGeom prst="roundRect">
            <a:avLst>
              <a:gd name="adj" fmla="val 186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17275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SWITCH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17275" y="5772507"/>
            <a:ext cx="35140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Evaluates expression against values list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815393" y="4934069"/>
            <a:ext cx="4028718" cy="1821537"/>
          </a:xfrm>
          <a:prstGeom prst="roundRect">
            <a:avLst>
              <a:gd name="adj" fmla="val 1868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072688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DATEDIFF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72688" y="5772507"/>
            <a:ext cx="35141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Returns interval boundaries between dates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656AF8-859B-B30F-38AE-B497E35160A7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85837"/>
            <a:ext cx="940832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10823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53822"/>
            <a:ext cx="3964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KPIS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028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Banking Metrics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551748"/>
            <a:ext cx="670560" cy="67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47838" y="2551748"/>
            <a:ext cx="20939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Clients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747838" y="3042166"/>
            <a:ext cx="20939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number of banking clients tracked via DISTINCTCOUNT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5278" y="2551748"/>
            <a:ext cx="670560" cy="670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79325" y="2551748"/>
            <a:ext cx="2094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Loan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079325" y="3042166"/>
            <a:ext cx="209407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 of bank loans, business lending, and credit card balances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884" y="2551748"/>
            <a:ext cx="670560" cy="670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0932" y="2551748"/>
            <a:ext cx="2094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Deposit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10932" y="3042166"/>
            <a:ext cx="209407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Combined bank deposits, savings, foreign currency, and checking accounts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8491" y="2551748"/>
            <a:ext cx="670560" cy="6705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742539" y="2551748"/>
            <a:ext cx="2094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Fees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1742539" y="3042166"/>
            <a:ext cx="209407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Account setup and maintenance charges calculated via SUMX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5310307"/>
            <a:ext cx="670560" cy="6705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47838" y="5310307"/>
            <a:ext cx="20939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Credit Card Balance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1747838" y="6155055"/>
            <a:ext cx="20939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amount owed by cardholders to credit card banks</a:t>
            </a:r>
            <a:endParaRPr lang="en-US" sz="17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5278" y="5310307"/>
            <a:ext cx="670560" cy="6705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79325" y="5310307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Engagement Length</a:t>
            </a:r>
            <a:endParaRPr lang="en-US" sz="2200" dirty="0"/>
          </a:p>
        </p:txBody>
      </p:sp>
      <p:sp>
        <p:nvSpPr>
          <p:cNvPr id="23" name="Text 14"/>
          <p:cNvSpPr/>
          <p:nvPr/>
        </p:nvSpPr>
        <p:spPr>
          <a:xfrm>
            <a:off x="5079325" y="6155055"/>
            <a:ext cx="20940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days customers have been with the bank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461993-D68D-BCE2-EC77-C5AEA6844C66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3983"/>
            <a:ext cx="5972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analysis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678" y="2962037"/>
            <a:ext cx="5090993" cy="2872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27583" y="1941195"/>
            <a:ext cx="6516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583" y="2559248"/>
            <a:ext cx="6516529" cy="36780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078223-A0CF-E457-4083-FD2BE6039307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5396" y="1093113"/>
            <a:ext cx="4987171" cy="547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Dashboard Visualizations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396" y="2366129"/>
            <a:ext cx="7715012" cy="42485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15701" y="1979771"/>
            <a:ext cx="3507105" cy="43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Four Key Views</a:t>
            </a:r>
            <a:endParaRPr lang="en-US" sz="2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701" y="2570559"/>
            <a:ext cx="876776" cy="1052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27970" y="2745819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Home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427970" y="3155275"/>
            <a:ext cx="2944535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Overview and navigation hub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5701" y="3622596"/>
            <a:ext cx="876776" cy="12574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427970" y="3797856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Loan Analysis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0427970" y="4207312"/>
            <a:ext cx="2944535" cy="49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Detailed loan metrics by investor and gender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5701" y="4880015"/>
            <a:ext cx="876776" cy="10520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27970" y="5055275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Deposit Analysis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0427970" y="5464731"/>
            <a:ext cx="2944535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Account deposits across categories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5701" y="5932051"/>
            <a:ext cx="876776" cy="105203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427970" y="6107311"/>
            <a:ext cx="219194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Summary Dashboard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10427970" y="6516767"/>
            <a:ext cx="2944535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Consolidated KPIs and insights</a:t>
            </a:r>
            <a:endParaRPr lang="en-US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9EA9E-EA47-2A04-A2ED-AB449E6C5FF9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16048"/>
            <a:ext cx="958572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784033"/>
            <a:ext cx="6863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33017"/>
            <a:ext cx="94815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Business Value &amp; Future Applications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0877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93790" y="430256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dashboards are among the most effective resources for banking sector data visualization. This solution enables key banking metrics and KPIs tracking for informed decision-making.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0877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Work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599521" y="4302562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 total loan amounts per investor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 client distribution across bank types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 loan patterns by nationality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account type investments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competitive strategies based on insights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BA37B9-9A8F-FE04-F91E-2592382C1F2A}"/>
              </a:ext>
            </a:extLst>
          </p:cNvPr>
          <p:cNvSpPr/>
          <p:nvPr/>
        </p:nvSpPr>
        <p:spPr>
          <a:xfrm>
            <a:off x="12891367" y="7549376"/>
            <a:ext cx="1694985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Empowering Data-Driven Banking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4449247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 risk assessment through comprehensive analytics and visualization, enabling smarter lending decisions that protect assets while serving clients effectively.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194096"/>
            <a:ext cx="30480" cy="1599009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455</Words>
  <Application>Microsoft Office PowerPoint</Application>
  <PresentationFormat>Custom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Alice</vt:lpstr>
      <vt:lpstr>Arial</vt:lpstr>
      <vt:lpstr>Alice Light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TEJAS</dc:creator>
  <cp:lastModifiedBy>Tejas jadhav</cp:lastModifiedBy>
  <cp:revision>2</cp:revision>
  <dcterms:created xsi:type="dcterms:W3CDTF">2026-02-17T22:07:48Z</dcterms:created>
  <dcterms:modified xsi:type="dcterms:W3CDTF">2026-02-17T22:11:19Z</dcterms:modified>
</cp:coreProperties>
</file>